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74" r:id="rId4"/>
    <p:sldId id="261" r:id="rId5"/>
    <p:sldId id="257" r:id="rId6"/>
    <p:sldId id="258" r:id="rId7"/>
    <p:sldId id="260" r:id="rId8"/>
    <p:sldId id="264" r:id="rId9"/>
    <p:sldId id="268" r:id="rId10"/>
    <p:sldId id="275" r:id="rId11"/>
    <p:sldId id="279" r:id="rId12"/>
    <p:sldId id="277" r:id="rId13"/>
    <p:sldId id="282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0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081F8-784B-41E7-A085-7E10CBC7F04D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68F79-743F-47EA-B9F4-7AD2EBD64B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15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68F79-743F-47EA-B9F4-7AD2EBD64B5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812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541A6-FA51-4A5D-15A4-0EA3B4A78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A2B9F-FC41-9E3C-80D0-10A4647A2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88A03-FDCF-DB0E-C760-4F3D3659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0A8B-38A0-47E7-B46B-CA8AE7D866EF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40DD6-654D-EA18-E07F-D982538E3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A404A-9307-E5C9-D0FC-5537A199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5034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85F2-4E21-61F9-40C2-2CE2372A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BAE4-ACA0-6261-BD80-8293D22E7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9CDAC-3C80-E565-A8E0-1D5C432A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239D-8A95-4B0F-AD08-4A22F61E8C77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B73AF-509C-88F5-B210-DA1D2082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9278-6797-BC37-26B5-92B35423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7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B542-3D42-7E46-572D-A0A0A817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388AD-88D9-944A-3351-4B883B138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604-C109-4B88-1D7B-582BDBEA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BD867-E19B-47B3-9EF4-202A0394BA9C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CF6E3-A830-B96F-2D50-A2475A88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E1A4E-3684-A587-0F5A-67A2F91A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392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CFF6-9B91-8DFF-7188-946118BF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64EB3-2A74-CFC3-8B54-477FD18E8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72829-6A72-7C26-CB9E-10166976B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D276B-2C5A-7727-2E57-2C2429F9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6277-DCD8-4AE2-9CA7-EE9DC7198AA9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F0D0F-2E06-70D0-2CCA-C8CFA3B4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AA4A4-62BC-90E4-AA7D-1AE8DBCC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46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808E-EFED-7680-648F-D38E4FA0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46402-79FB-396D-AADC-F395804DA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04AD4-34E2-CCDA-7A5C-1F7B3AE88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F3AAF-06BD-EAD6-216E-200835BCC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A40B3-F5EB-4946-EF98-9AE1FFDDB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512167-32D6-90C6-DDC0-D6A26133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7EB6-E330-4B6E-BF41-9731A0430A25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57D672-07CD-5AD2-35AD-63641B15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6832A9-D53D-9214-D0F7-BF75796B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567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02CF-FDAC-7CCB-1B6B-7BE3271C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472B21-6C50-B48D-0F21-AC2F3FDC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85A90-FEF3-4805-9542-589ABBC1B4CE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F9065-976C-E1BF-C087-53E3CE92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56C11-8EF2-BEE6-A4BE-1F05B16B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456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D6387C-BFC3-F29E-3B3A-B46B1D8B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65F3-C252-4BCE-A294-3E248C1EA5DA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0CAE2-8F4F-F693-EB94-779FF045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64E63-AE41-B50A-A48A-DEB2BCF2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588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EB33-021A-7BB0-9414-12000E64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57CBB-E705-7B58-7578-DCAA6C6F5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7E4E5-3A3F-B5A3-6026-32016835F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A824A-0291-5947-61A1-8FFFD36B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D083-AB10-40EA-B91E-0FBD01A67111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B951F-2724-618B-0D62-1D342F39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C10BF-B96B-D692-1A30-505AE915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14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56C15-90CB-C7BE-FAEB-942AB0FE1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FD66D-F516-8EB0-39EA-9C715D7B5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3F5EE-405F-FBCB-56C7-858FE1269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0EA6C-5624-FA6E-C724-1194E958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A14B1-74B0-418B-A98A-17DF59809C51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56DA5-D07A-A62B-FC9F-62650252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468FD-09CF-27F1-E972-804DCAC9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577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2B67-6E51-DFCF-FE02-3D79D169D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885A0-D1C1-2105-A070-BAB10BD24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CD568-C63E-61A0-FA6E-5FEDA871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10EDB-33F1-490C-AB5A-1B8B0C3CAA54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8A5C5-9445-6827-4F3E-3FF86B8F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D8D47-771A-5407-7FE7-64FEAC7B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147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EB9FEE-2A35-2412-1F38-F4EE86AA9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757BE-827D-8538-A18A-6CCFAC031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AF432-9D43-E8AF-1692-3C541C9A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1BB5D-17FD-4C8D-B12A-E47901AE1851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B1F1C-42C6-9689-CC68-C54E34D5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5ED8A-CB0D-BD31-5677-3EC4F22E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602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C6A90-092A-2B51-A6FB-7EF955C4C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1EF18-3722-FEC3-5DF9-6C8EFDC4F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F1F74-5DF6-C451-B0A1-E9A5E92AE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CE8DC-9252-49FA-A217-A848EB48FED3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0ADD1-E9F5-3A3F-37BF-08119C2E1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NH 44, Kompally,Secunderabad, Telangana - 500100; admissions@ssim.ac.in; 040-2716 5451/53/54; +91 9391114948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3998-C71F-7BBD-E6CA-BC3C2DE27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A9786-1645-4B23-B130-7DB12EDF72D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2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161CC-3EFE-C01D-24B5-F34A4DDE0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501453"/>
            <a:ext cx="10909640" cy="1065836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rgbClr val="1B3059"/>
                </a:solidFill>
              </a:rPr>
              <a:t>Siva Sivani Institute of Management</a:t>
            </a:r>
            <a:endParaRPr lang="en-GB" sz="5600" dirty="0">
              <a:solidFill>
                <a:srgbClr val="1B3059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4F6C9-341F-D79E-3B97-E4552A00E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57663"/>
            <a:ext cx="10909643" cy="552659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rgbClr val="1B3059"/>
                </a:solidFill>
              </a:rPr>
              <a:t>Preparing Minds for the Business of Tomorrow</a:t>
            </a:r>
            <a:endParaRPr lang="en-GB" sz="2800" b="1" dirty="0">
              <a:solidFill>
                <a:srgbClr val="1B3059"/>
              </a:solidFill>
            </a:endParaRPr>
          </a:p>
        </p:txBody>
      </p:sp>
      <p:pic>
        <p:nvPicPr>
          <p:cNvPr id="1028" name="Picture 4" descr="Siva Sivani Institute of Management">
            <a:extLst>
              <a:ext uri="{FF2B5EF4-FFF2-40B4-BE49-F238E27FC236}">
                <a16:creationId xmlns:a16="http://schemas.microsoft.com/office/drawing/2014/main" id="{8CED6D7D-D40F-AD72-3B6E-B8B867570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677" y="723152"/>
            <a:ext cx="5614416" cy="315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2FAA3-A552-1F53-9D3D-5EC8DA26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" y="6356350"/>
            <a:ext cx="11927840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pic>
        <p:nvPicPr>
          <p:cNvPr id="9" name="Content Placeholder 7" descr="A blue text on a black background">
            <a:extLst>
              <a:ext uri="{FF2B5EF4-FFF2-40B4-BE49-F238E27FC236}">
                <a16:creationId xmlns:a16="http://schemas.microsoft.com/office/drawing/2014/main" id="{1D9972C6-7F89-FE23-BE45-640BDA848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720" y="723152"/>
            <a:ext cx="6062598" cy="320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91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8693-1982-CAEE-7D3F-16317B1DF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F80E-9061-F020-C564-855108C2B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About SSIM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6FCC948B-8115-16AE-DCF9-D76CC11E8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96BF34-E229-26B1-F419-245E8430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9A553-9CC2-691B-4FD9-A054869FA32E}"/>
              </a:ext>
            </a:extLst>
          </p:cNvPr>
          <p:cNvSpPr txBox="1"/>
          <p:nvPr/>
        </p:nvSpPr>
        <p:spPr>
          <a:xfrm>
            <a:off x="591671" y="1622612"/>
            <a:ext cx="11048103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 Premier Institution with over Three Decades of excellence in management education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Renowned for its Strong Ethical Foundation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Delivers Industry-Relevant learning that blends academic and corporate insights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Innovative Curriculum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Experienced Faculty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Rich Corporate Mentoring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Practical On field Applicability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Blended Learning Platforms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Latest Technological Integration</a:t>
            </a:r>
          </a:p>
        </p:txBody>
      </p:sp>
    </p:spTree>
    <p:extLst>
      <p:ext uri="{BB962C8B-B14F-4D97-AF65-F5344CB8AC3E}">
        <p14:creationId xmlns:p14="http://schemas.microsoft.com/office/powerpoint/2010/main" val="341188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E869-2527-8B78-BA94-A74214D1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A206-093A-2EC6-4C6E-2B93E6EF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About SSIM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61B3854D-7079-B4C5-CCCA-1399A793C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374DA6-9935-2AE5-1F32-2DD6C8C3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0EB17-1256-11C5-FA03-FAB8E3EC79A4}"/>
              </a:ext>
            </a:extLst>
          </p:cNvPr>
          <p:cNvSpPr txBox="1"/>
          <p:nvPr/>
        </p:nvSpPr>
        <p:spPr>
          <a:xfrm>
            <a:off x="591671" y="1602292"/>
            <a:ext cx="11048103" cy="4449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Focus on Holistic Development of Individual Personality with emphasis 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Critical Decision-Making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Creativity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Innovation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Sustainability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Ethics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Managerial Competency Development Components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Proud of vibrant, extremely qualified, and talented alumni network spanning across the globe, across industries, across domains, and across profiles.</a:t>
            </a:r>
          </a:p>
          <a:p>
            <a:pPr>
              <a:lnSpc>
                <a:spcPct val="150000"/>
              </a:lnSpc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SSIM continues to shape future-ready leaders year-on-year………………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8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E4F45-A2FA-0AE4-B1F8-12708348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F899-BB78-CB26-9CF6-4D408230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About SSIM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3B9B5565-B8D1-DD19-283F-78F5092E8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B3E3284-57AF-621D-43E2-143734E3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FD3F048-99A8-CA23-12D9-521B67818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45142"/>
            <a:ext cx="9154160" cy="480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68FE-81EA-43EC-9837-D75D886BB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SSIM Timeline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E13AC83F-906C-1643-2118-473A8A609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FFE6A0B-9123-EB49-F705-F7555BB18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70CBD4-33FB-2F06-2252-FDF1A4D62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28" y="1587395"/>
            <a:ext cx="11253354" cy="466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20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3BDC2-FF70-FFF9-FB95-DD9D9B9F0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121A-76AD-E25B-0C2F-56E79A4F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Accreditations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27291127-1A57-98F5-21F0-02DCA45CF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425F4-FD92-6696-6399-7F0DA06D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pic>
        <p:nvPicPr>
          <p:cNvPr id="2050" name="Picture 2" descr="SAQS - Home Page">
            <a:extLst>
              <a:ext uri="{FF2B5EF4-FFF2-40B4-BE49-F238E27FC236}">
                <a16:creationId xmlns:a16="http://schemas.microsoft.com/office/drawing/2014/main" id="{A6A97682-EFD6-4C9A-5193-A5AEFFDFF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185" y="1809815"/>
            <a:ext cx="41148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BA Accreditation | Admission in B.tech Course in West Bengal">
            <a:extLst>
              <a:ext uri="{FF2B5EF4-FFF2-40B4-BE49-F238E27FC236}">
                <a16:creationId xmlns:a16="http://schemas.microsoft.com/office/drawing/2014/main" id="{9163B767-116E-E2F9-7684-D33BEBE37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046" y="1942305"/>
            <a:ext cx="2577307" cy="257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hat is NAAC Accreditation? - IIMT Group of Colleges">
            <a:extLst>
              <a:ext uri="{FF2B5EF4-FFF2-40B4-BE49-F238E27FC236}">
                <a16:creationId xmlns:a16="http://schemas.microsoft.com/office/drawing/2014/main" id="{4FC8EF24-3F0D-9629-BFF9-F513B989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436" y="4560179"/>
            <a:ext cx="343852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ICTE Approval | AICTE Approved Engineering College in West Bengal">
            <a:extLst>
              <a:ext uri="{FF2B5EF4-FFF2-40B4-BE49-F238E27FC236}">
                <a16:creationId xmlns:a16="http://schemas.microsoft.com/office/drawing/2014/main" id="{964387BD-51A4-9006-26B2-6B3CC6007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7" y="1942307"/>
            <a:ext cx="2603339" cy="257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ssociation of Indian Universities | Higher Education and research for  Sustainable Development">
            <a:extLst>
              <a:ext uri="{FF2B5EF4-FFF2-40B4-BE49-F238E27FC236}">
                <a16:creationId xmlns:a16="http://schemas.microsoft.com/office/drawing/2014/main" id="{AF0EF52A-F9DE-0CFB-A820-497448B5F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004" y="1923264"/>
            <a:ext cx="4338656" cy="240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ember Listing | AACSB">
            <a:extLst>
              <a:ext uri="{FF2B5EF4-FFF2-40B4-BE49-F238E27FC236}">
                <a16:creationId xmlns:a16="http://schemas.microsoft.com/office/drawing/2014/main" id="{852ED771-393E-BE98-159E-DCD8C935F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79977"/>
            <a:ext cx="4257675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670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EC21-A768-9602-9D92-5CEA59B6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52C9-16B8-FBD6-1578-723CCA72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Awards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28772AE1-7867-DEA5-1305-FA8FE7008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34DD38-AE41-457D-7CFD-CC740929E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9512C648-A277-F89F-E68E-5E3DD54A7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287" y="1629735"/>
            <a:ext cx="5253101" cy="3447874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4CA8399F-28DD-0CAC-1A40-C51EEC333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96" y="1417989"/>
            <a:ext cx="5760304" cy="2397837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0AFC6A-7981-1618-0A38-2886485CB2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96" y="3861257"/>
            <a:ext cx="3418723" cy="2391655"/>
          </a:xfrm>
          <a:prstGeom prst="rect">
            <a:avLst/>
          </a:prstGeom>
        </p:spPr>
      </p:pic>
      <p:pic>
        <p:nvPicPr>
          <p:cNvPr id="11" name="Picture 10" descr="A screenshot of a computer">
            <a:extLst>
              <a:ext uri="{FF2B5EF4-FFF2-40B4-BE49-F238E27FC236}">
                <a16:creationId xmlns:a16="http://schemas.microsoft.com/office/drawing/2014/main" id="{FBB36934-A3A0-8F7E-3D4F-DE49999952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086" y="3858165"/>
            <a:ext cx="4040837" cy="239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8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D897-502F-286C-D73E-7E129C80F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59C1-CB4E-033B-7112-DF393ADD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Awards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D0FC7D66-DA08-8EF4-C6A4-4776A4C06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94003D-787A-9BD0-23B3-5E476D4D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F0355A-5C79-1ACB-AE2E-45448A2C5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1587395"/>
            <a:ext cx="6543936" cy="471471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53DB2D-FA86-DE28-EA06-F5D418957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198" y="1641640"/>
            <a:ext cx="5078183" cy="461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54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3237-0146-A2D4-F486-A3E243E42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3790-EDFB-F441-40FD-72126F1B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Programs Offered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9BB5BE2B-906C-30EF-73A8-3D2B9CAA1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553254D-53F3-F730-7EF2-10EF2E15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DD650-826C-CBD9-F3CF-B4A7765D9031}"/>
              </a:ext>
            </a:extLst>
          </p:cNvPr>
          <p:cNvSpPr txBox="1"/>
          <p:nvPr/>
        </p:nvSpPr>
        <p:spPr>
          <a:xfrm>
            <a:off x="591671" y="1571812"/>
            <a:ext cx="11048103" cy="426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PGDM Triple Specialization(PGDM-TPS)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PGDM Banking, Insurance, and Financial Services(PGDM-BIFS)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PGDM Business Analytics (PGDM – BA)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Fellow Program in Management (FPM)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Executive FPM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501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B35AF-2A05-E27C-705D-05FECC08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15131-9F03-EE06-5981-4314376B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About PGDM TPS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38B32B11-204B-219C-9F96-0FB11F5CE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641" y="-957"/>
            <a:ext cx="3007360" cy="1588353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56AF511-E55C-FD92-CCCC-67B85B94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F465AD-7B04-F0E1-5777-66FF618A8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566406"/>
              </p:ext>
            </p:extLst>
          </p:nvPr>
        </p:nvGraphicFramePr>
        <p:xfrm>
          <a:off x="290459" y="1571463"/>
          <a:ext cx="11724639" cy="4738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614">
                  <a:extLst>
                    <a:ext uri="{9D8B030D-6E8A-4147-A177-3AD203B41FA5}">
                      <a16:colId xmlns:a16="http://schemas.microsoft.com/office/drawing/2014/main" val="2985435317"/>
                    </a:ext>
                  </a:extLst>
                </a:gridCol>
                <a:gridCol w="4553527">
                  <a:extLst>
                    <a:ext uri="{9D8B030D-6E8A-4147-A177-3AD203B41FA5}">
                      <a16:colId xmlns:a16="http://schemas.microsoft.com/office/drawing/2014/main" val="2254606867"/>
                    </a:ext>
                  </a:extLst>
                </a:gridCol>
                <a:gridCol w="4801498">
                  <a:extLst>
                    <a:ext uri="{9D8B030D-6E8A-4147-A177-3AD203B41FA5}">
                      <a16:colId xmlns:a16="http://schemas.microsoft.com/office/drawing/2014/main" val="646800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Feature</a:t>
                      </a:r>
                      <a:endParaRPr lang="en-GB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Advantage</a:t>
                      </a:r>
                      <a:endParaRPr lang="en-GB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What the Students Gain</a:t>
                      </a:r>
                      <a:endParaRPr lang="en-GB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19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35th Batch Ongoing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Proven continuity and academic maturity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Confidence of joining a stable, time-tested institution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67239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/>
                        <a:t>35 Years of Legacy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Deep-rooted credibility and trust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Strong brand value recognized by recruiters and industry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4282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Global Immersion Program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International exposure and cross-cultural learning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Global mindset and enhanced employability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68136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/>
                        <a:t>Multi-Domain Expertise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Exposure across Marketing, HR, Finance, Operations, Analytics &amp; sectors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Ability to adapt across roles and industries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156159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Versatility that Employers Value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Combination of domain + sectoral knowledge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Higher placement flexibility and career mobility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674166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Future-Ready Curriculum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Curriculum aligned with analytics, fintech, digital marketing &amp; AI trends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Graduates stay relevant in evolving job markets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64988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Practical Learning Edge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Live projects, simulations, internships &amp; case-based learning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Job-ready skills from day one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4277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Robust Industry Connect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Strong corporate partnerships and industry interaction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Better internships, mentoring, and placement opportunities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90806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Strong Placement Edge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Consistent placement performance across batches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Faster transition from classroom to corporate roles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18835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Entrepreneurship &amp; Leadership Development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Focus on innovation, leadership labs &amp; entrepreneurial thinking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Capability to lead teams or start ventures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21280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1" dirty="0"/>
                        <a:t>Global Alumni Network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5000+ alumni across industries and geographies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Networking, mentoring, and long-term career support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3047222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20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28A6-93AF-239B-AF83-60C367A4E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BA03-46C8-9FCF-1484-C83E1E46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560" y="-81914"/>
            <a:ext cx="10515600" cy="86335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About PGDM BIFS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FAEDF2E1-626D-BFF8-2D4A-D734DAB68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99" y="-957"/>
            <a:ext cx="2184401" cy="790327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9714EE7-092C-99C0-7798-6718AB25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7FD019-29A9-DEAA-43BF-C0834D886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872626"/>
              </p:ext>
            </p:extLst>
          </p:nvPr>
        </p:nvGraphicFramePr>
        <p:xfrm>
          <a:off x="290459" y="781436"/>
          <a:ext cx="11724639" cy="5597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41">
                  <a:extLst>
                    <a:ext uri="{9D8B030D-6E8A-4147-A177-3AD203B41FA5}">
                      <a16:colId xmlns:a16="http://schemas.microsoft.com/office/drawing/2014/main" val="2985435317"/>
                    </a:ext>
                  </a:extLst>
                </a:gridCol>
                <a:gridCol w="4439920">
                  <a:extLst>
                    <a:ext uri="{9D8B030D-6E8A-4147-A177-3AD203B41FA5}">
                      <a16:colId xmlns:a16="http://schemas.microsoft.com/office/drawing/2014/main" val="2254606867"/>
                    </a:ext>
                  </a:extLst>
                </a:gridCol>
                <a:gridCol w="4476378">
                  <a:extLst>
                    <a:ext uri="{9D8B030D-6E8A-4147-A177-3AD203B41FA5}">
                      <a16:colId xmlns:a16="http://schemas.microsoft.com/office/drawing/2014/main" val="646800460"/>
                    </a:ext>
                  </a:extLst>
                </a:gridCol>
              </a:tblGrid>
              <a:tr h="39552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Feature</a:t>
                      </a:r>
                      <a:endParaRPr lang="en-GB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Advantage</a:t>
                      </a:r>
                      <a:endParaRPr lang="en-GB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What the Students Gain</a:t>
                      </a:r>
                      <a:endParaRPr lang="en-GB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19666"/>
                  </a:ext>
                </a:extLst>
              </a:tr>
              <a:tr h="39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19th Batch Ongoing</a:t>
                      </a:r>
                      <a:endParaRPr lang="en-GB" sz="1300" dirty="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Established program continuity and proven outcomes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Confidence of enrolling in a stable, well-evolved programme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2672399324"/>
                  </a:ext>
                </a:extLst>
              </a:tr>
              <a:tr h="39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19 </a:t>
                      </a:r>
                      <a:r>
                        <a:rPr lang="en-GB" sz="1300" b="1" dirty="0"/>
                        <a:t>Years of Legacy</a:t>
                      </a:r>
                      <a:endParaRPr lang="en-GB" sz="1300" dirty="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Strong institutional credibility in specialized management education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Trust, recognition, and acceptance among recruiters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2428226168"/>
                  </a:ext>
                </a:extLst>
              </a:tr>
              <a:tr h="39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Versatility that Employers Value</a:t>
                      </a:r>
                      <a:endParaRPr lang="en-GB" sz="130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Exposure to multiple functional and sectoral perspectives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Greater role flexibility and career mobility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681363784"/>
                  </a:ext>
                </a:extLst>
              </a:tr>
              <a:tr h="39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Future-Ready Curriculum</a:t>
                      </a:r>
                      <a:endParaRPr lang="en-GB" sz="130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Curriculum aligned with BFSI, fintech, analytics &amp; regulatory trends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Graduates remain relevant in fast-changing financial services roles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3156159115"/>
                  </a:ext>
                </a:extLst>
              </a:tr>
              <a:tr h="39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Practical Learning Edge</a:t>
                      </a:r>
                      <a:endParaRPr lang="en-GB" sz="130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Case studies, simulations, live projects &amp; certifications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Job-ready skills with reduced learning curve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2674166409"/>
                  </a:ext>
                </a:extLst>
              </a:tr>
              <a:tr h="39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Robust Industry Connect</a:t>
                      </a:r>
                      <a:endParaRPr lang="en-GB" sz="130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Direct interaction with industry experts, bodies &amp; institutions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Better internships, mentorship, and placement access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2649889055"/>
                  </a:ext>
                </a:extLst>
              </a:tr>
              <a:tr h="39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Strong Placement Edge</a:t>
                      </a:r>
                      <a:endParaRPr lang="en-GB" sz="130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Consistent placement support with sector-focused roles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Faster transition from campus to corporate careers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342778683"/>
                  </a:ext>
                </a:extLst>
              </a:tr>
              <a:tr h="395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Global Alumni Network</a:t>
                      </a:r>
                      <a:endParaRPr lang="en-GB" sz="130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Alumni presence across BFSI and allied sectors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Networking, referrals, and long-term career support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3908066403"/>
                  </a:ext>
                </a:extLst>
              </a:tr>
              <a:tr h="402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Licentiate Certification – Insurance Institute of India (III), Mumbai</a:t>
                      </a:r>
                      <a:endParaRPr lang="en-GB" sz="130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Industry-</a:t>
                      </a:r>
                      <a:r>
                        <a:rPr lang="en-US" sz="1300" dirty="0" err="1"/>
                        <a:t>recognised</a:t>
                      </a:r>
                      <a:r>
                        <a:rPr lang="en-US" sz="1300" dirty="0"/>
                        <a:t> professional qualification embedded in the </a:t>
                      </a:r>
                      <a:r>
                        <a:rPr lang="en-US" sz="1300" dirty="0" err="1"/>
                        <a:t>programme</a:t>
                      </a:r>
                      <a:endParaRPr lang="en-US" sz="1300" dirty="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Enhanced credibility for insurance and risk management roles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2188354312"/>
                  </a:ext>
                </a:extLst>
              </a:tr>
              <a:tr h="402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NISM Immersion Program @ Mumbai (3 Days) / NISM Certification</a:t>
                      </a:r>
                      <a:endParaRPr lang="en-US" sz="130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Exposure to India’s financial capital and regulatory ecosystem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Practical understanding of markets, compliance, and institutions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2212806902"/>
                  </a:ext>
                </a:extLst>
              </a:tr>
              <a:tr h="402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Certification Programs with Banking Institutions</a:t>
                      </a:r>
                      <a:endParaRPr lang="en-US" sz="1300" dirty="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Understanding the Software used in Banking sector and its practical operations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Competitive advantage for </a:t>
                      </a:r>
                      <a:r>
                        <a:rPr lang="en-US" sz="1300" dirty="0" err="1"/>
                        <a:t>specialised</a:t>
                      </a:r>
                      <a:r>
                        <a:rPr lang="en-US" sz="1300" dirty="0"/>
                        <a:t> BFSI and fintech roles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3047222531"/>
                  </a:ext>
                </a:extLst>
              </a:tr>
              <a:tr h="402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Globally Recognised ICMAI Certification (Fintech)</a:t>
                      </a:r>
                      <a:endParaRPr lang="en-GB" sz="1300" dirty="0"/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Internationally valued professional certification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Wider career opportunities and global recognition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2477137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233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CCFA8-ABC0-78C5-8FE5-B3223967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1B16-E9EA-C95E-4DF3-7123ED7B9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7233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Bodoni MT Black" panose="02070A03080606020203" pitchFamily="18" charset="0"/>
              </a:rPr>
              <a:t>About PGDM BA</a:t>
            </a:r>
            <a:endParaRPr lang="en-GB" dirty="0">
              <a:solidFill>
                <a:schemeClr val="tx2">
                  <a:lumMod val="90000"/>
                  <a:lumOff val="10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8" name="Content Placeholder 7" descr="A blue text on a black background">
            <a:extLst>
              <a:ext uri="{FF2B5EF4-FFF2-40B4-BE49-F238E27FC236}">
                <a16:creationId xmlns:a16="http://schemas.microsoft.com/office/drawing/2014/main" id="{591AE1C6-22B8-EBE5-5D50-BDCEB84C3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80" y="-956"/>
            <a:ext cx="1493520" cy="698661"/>
          </a:xfr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1791AB-65C9-5795-0DA0-D508BDD0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302" y="6356350"/>
            <a:ext cx="12073666" cy="365125"/>
          </a:xfrm>
        </p:spPr>
        <p:txBody>
          <a:bodyPr/>
          <a:lstStyle/>
          <a:p>
            <a:r>
              <a:rPr lang="en-GB" sz="1600" b="1" dirty="0"/>
              <a:t>NH 44, </a:t>
            </a:r>
            <a:r>
              <a:rPr lang="en-GB" sz="1600" b="1" dirty="0" err="1"/>
              <a:t>Kompally</a:t>
            </a:r>
            <a:r>
              <a:rPr lang="en-GB" sz="1600" b="1" dirty="0"/>
              <a:t>, </a:t>
            </a:r>
            <a:r>
              <a:rPr lang="en-GB" sz="1600" b="1" dirty="0" err="1"/>
              <a:t>Secunderabad</a:t>
            </a:r>
            <a:r>
              <a:rPr lang="en-GB" sz="1600" b="1" dirty="0"/>
              <a:t>, Telangana - 500100; admissions@ssim.ac.in; 040-2716 5451/53/54; +91 9391114948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37F226-F223-D7AE-D85E-45BE974A3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555532"/>
              </p:ext>
            </p:extLst>
          </p:nvPr>
        </p:nvGraphicFramePr>
        <p:xfrm>
          <a:off x="249815" y="799303"/>
          <a:ext cx="11724639" cy="5944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2905">
                  <a:extLst>
                    <a:ext uri="{9D8B030D-6E8A-4147-A177-3AD203B41FA5}">
                      <a16:colId xmlns:a16="http://schemas.microsoft.com/office/drawing/2014/main" val="2985435317"/>
                    </a:ext>
                  </a:extLst>
                </a:gridCol>
                <a:gridCol w="4561840">
                  <a:extLst>
                    <a:ext uri="{9D8B030D-6E8A-4147-A177-3AD203B41FA5}">
                      <a16:colId xmlns:a16="http://schemas.microsoft.com/office/drawing/2014/main" val="2254606867"/>
                    </a:ext>
                  </a:extLst>
                </a:gridCol>
                <a:gridCol w="4699894">
                  <a:extLst>
                    <a:ext uri="{9D8B030D-6E8A-4147-A177-3AD203B41FA5}">
                      <a16:colId xmlns:a16="http://schemas.microsoft.com/office/drawing/2014/main" val="646800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Feature</a:t>
                      </a:r>
                      <a:endParaRPr lang="en-GB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Advantage</a:t>
                      </a:r>
                      <a:endParaRPr lang="en-GB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What the Students Gain</a:t>
                      </a:r>
                      <a:endParaRPr lang="en-GB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219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5th Batch ongoing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Young yet proven program with evolving best practices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Confidence of learning from a refined, contemporary curriculum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672399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5 Years of Legacy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Rapidly built credibility in analytics education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Trust and recognition among recruiters and industry partners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4282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Business Analytics + One Major </a:t>
                      </a:r>
                      <a:r>
                        <a:rPr lang="en-US" sz="1300" b="1" dirty="0" err="1"/>
                        <a:t>Specialisation</a:t>
                      </a:r>
                      <a:endParaRPr lang="en-US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Integration of analytics with functional domain expertise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Ability to apply data skills directly to business roles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68136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Versatility that Employers Value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Blend of analytics, domain knowledge &amp; problem-solving skills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Higher employability across industries and functions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156159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Future-Ready Curriculum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Coverage of data analytics, AI tools, business intelligence &amp; emerging trends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Graduates remain relevant in data-driven job markets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674166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Practical Learning Edge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Hands-on projects, labs, case studies &amp; tool-based learning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Job-ready analytical skills with real-world exposure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64988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Robust Industry Connect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Strong engagement with analytics professionals and organisations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Better internships, mentoring and placement opportunities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4277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Strong Placement Edge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Consistent placement support for analytics and domain roles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Faster entry into analytics-driven career paths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90806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Global Alumni Network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Growing alumni base across analytics and business domains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Networking, career guidance and long-term professional support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18835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In Collaboration with IBM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Learning aligned with global technology and analytics standards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Enhanced credibility and exposure to industry-grade tools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21280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Industry Certification Courses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Embedded certifications aligned with analytics roles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Competitive advantage in hiring and career progression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04722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Membership – Analytical Society of India</a:t>
                      </a:r>
                      <a:endParaRPr lang="en-US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Access to professional training, workshops &amp; industry events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Continuous skill development and professional networking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47713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Course Accreditation – Association of Analytics</a:t>
                      </a:r>
                      <a:endParaRPr lang="en-US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External validation of curriculum and learning outcomes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Increased </a:t>
                      </a:r>
                      <a:r>
                        <a:rPr lang="en-US" sz="1300" dirty="0" err="1"/>
                        <a:t>programme</a:t>
                      </a:r>
                      <a:r>
                        <a:rPr lang="en-US" sz="1300" dirty="0"/>
                        <a:t> credibility and industry acceptance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60013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Business Analytics Lab</a:t>
                      </a:r>
                      <a:endParaRPr lang="en-GB" sz="1300" dirty="0"/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Dedicated infrastructure for hands-on analytics practice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Practical mastery of tools, datasets and analytical models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564808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017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2CAD-E3DC-8E2E-B554-69CC814F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7" descr="A blue text on a black background">
            <a:extLst>
              <a:ext uri="{FF2B5EF4-FFF2-40B4-BE49-F238E27FC236}">
                <a16:creationId xmlns:a16="http://schemas.microsoft.com/office/drawing/2014/main" id="{09692405-6548-46A3-6018-4F0E10F20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007" y="-957"/>
            <a:ext cx="1982994" cy="1047329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C3D448-F99C-EC73-ED1E-6BBF38FDF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122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0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E14C7-27F2-2E90-36A9-6313A1D4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Content Placeholder 7" descr="A blue text on a black background">
            <a:extLst>
              <a:ext uri="{FF2B5EF4-FFF2-40B4-BE49-F238E27FC236}">
                <a16:creationId xmlns:a16="http://schemas.microsoft.com/office/drawing/2014/main" id="{52701A11-7889-29D0-81C7-549608172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007" y="-957"/>
            <a:ext cx="1982994" cy="1047329"/>
          </a:xfr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BED7F3-AB7D-A3AB-13DE-DAF4FE4B0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23" y="50463"/>
            <a:ext cx="10211306" cy="680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46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1186</Words>
  <Application>Microsoft Office PowerPoint</Application>
  <PresentationFormat>Widescreen</PresentationFormat>
  <Paragraphs>170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Bodoni MT Black</vt:lpstr>
      <vt:lpstr>Wingdings</vt:lpstr>
      <vt:lpstr>Office Theme</vt:lpstr>
      <vt:lpstr>Siva Sivani Institute of Management</vt:lpstr>
      <vt:lpstr>About SSIM</vt:lpstr>
      <vt:lpstr>About SSIM</vt:lpstr>
      <vt:lpstr>About SSIM</vt:lpstr>
      <vt:lpstr>SSIM Timeline</vt:lpstr>
      <vt:lpstr>Accreditations</vt:lpstr>
      <vt:lpstr>Awards</vt:lpstr>
      <vt:lpstr>Awards</vt:lpstr>
      <vt:lpstr>Programs Offered</vt:lpstr>
      <vt:lpstr>About PGDM TPS</vt:lpstr>
      <vt:lpstr>About PGDM BIFS</vt:lpstr>
      <vt:lpstr>About PGDM BA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Samarpita Roy</dc:creator>
  <cp:lastModifiedBy>Samarpita Roy</cp:lastModifiedBy>
  <cp:revision>15</cp:revision>
  <dcterms:created xsi:type="dcterms:W3CDTF">2025-12-22T04:00:10Z</dcterms:created>
  <dcterms:modified xsi:type="dcterms:W3CDTF">2025-12-22T16:02:28Z</dcterms:modified>
</cp:coreProperties>
</file>